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6A9248B-DBA6-4E17-9FE2-A94A038C5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90C83F-3248-4467-B612-AFC2FCEB7D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14215A-981F-4C24-A1FB-90EF11CA73B1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7429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Berlin Weather EDA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C3164-9B9E-4532-98F7-A61F83D63058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8382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API-based exploratory analysis of DWD weather observations for data quality, trend, seasonality, and weather-pattern reporting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193F2-54BD-4607-BDF3-D98F20BEA472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2381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2020-2025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24F82-EC19-42D6-A45D-FE5C3CD842C2}"/>
              </a:ext>
            </a:extLst>
          </p:cNvPr>
          <p:cNvSpPr>
            <a:spLocks noGrp="1"/>
          </p:cNvSpPr>
          <p:nvPr/>
        </p:nvSpPr>
        <p:spPr>
          <a:xfrm>
            <a:off x="742950" y="3686175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Observation period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6A18A-4BE8-402F-972B-6FA12FBB1B03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2095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Berlin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313721-746D-4EB5-91B9-B01F1C94F4DE}"/>
              </a:ext>
            </a:extLst>
          </p:cNvPr>
          <p:cNvSpPr>
            <a:spLocks noGrp="1"/>
          </p:cNvSpPr>
          <p:nvPr/>
        </p:nvSpPr>
        <p:spPr>
          <a:xfrm>
            <a:off x="3429000" y="3686175"/>
            <a:ext cx="209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Location analyzed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49BBEE-7E29-4B53-B725-AC583E9138D3}"/>
              </a:ext>
            </a:extLst>
          </p:cNvPr>
          <p:cNvSpPr>
            <a:spLocks noGrp="1"/>
          </p:cNvSpPr>
          <p:nvPr/>
        </p:nvSpPr>
        <p:spPr>
          <a:xfrm>
            <a:off x="5905500" y="3162300"/>
            <a:ext cx="2571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DWD API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81AA85-D0C7-4968-8660-0B1DDCB1578F}"/>
              </a:ext>
            </a:extLst>
          </p:cNvPr>
          <p:cNvSpPr>
            <a:spLocks noGrp="1"/>
          </p:cNvSpPr>
          <p:nvPr/>
        </p:nvSpPr>
        <p:spPr>
          <a:xfrm>
            <a:off x="5905500" y="3686175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Bright Sky weather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2B76AF-F679-4505-86E7-4CBD816EF6FB}"/>
              </a:ext>
            </a:extLst>
          </p:cNvPr>
          <p:cNvSpPr>
            <a:spLocks noGrp="1"/>
          </p:cNvSpPr>
          <p:nvPr/>
        </p:nvSpPr>
        <p:spPr>
          <a:xfrm>
            <a:off x="742950" y="5186362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IN" sz="135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Summary </a:t>
            </a:r>
            <a:r>
              <a:rPr lang="en-IN" sz="1350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</a:t>
            </a:r>
            <a:r>
              <a:rPr sz="1350" b="0" dirty="0" err="1">
                <a:solidFill>
                  <a:srgbClr val="6B7280"/>
                </a:solidFill>
                <a:latin typeface="Aptos"/>
                <a:ea typeface="Aptos"/>
                <a:cs typeface="Aptos"/>
              </a:rPr>
              <a:t>eport</a:t>
            </a:r>
            <a:r>
              <a:rPr sz="1350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 </a:t>
            </a:r>
            <a:r>
              <a:rPr lang="en-IN" sz="135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: Chandana </a:t>
            </a:r>
            <a:r>
              <a:rPr lang="en-IN" sz="1350" dirty="0" err="1">
                <a:solidFill>
                  <a:srgbClr val="6B7280"/>
                </a:solidFill>
                <a:latin typeface="Aptos"/>
                <a:ea typeface="Aptos"/>
                <a:cs typeface="Aptos"/>
              </a:rPr>
              <a:t>Nuthangi</a:t>
            </a:r>
            <a:endParaRPr sz="1350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3125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5279F40-A2E3-41E5-A838-E09B17FE35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BE65F-A23A-4393-9808-5FCF5E509C5E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76200" cy="22860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DD6AA5-7F41-4A79-93E9-505D2B86B142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E7D19E-454C-41D6-A586-60BE59A3EE52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0287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A clean EDA story: from data reliability to weather insights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A25D1F-A3A7-43A5-B92F-9BA01BABE925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2776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06F91-4AAC-418F-A6AA-CC741FF3434E}"/>
              </a:ext>
            </a:extLst>
          </p:cNvPr>
          <p:cNvSpPr>
            <a:spLocks noGrp="1"/>
          </p:cNvSpPr>
          <p:nvPr/>
        </p:nvSpPr>
        <p:spPr>
          <a:xfrm>
            <a:off x="476250" y="64198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Bright Sky API / Deutscher Wetterdienst (DWD) | Berlin | 2020-2025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D492FB-E927-4EED-A9D9-A65FC87A6606}"/>
              </a:ext>
            </a:extLst>
          </p:cNvPr>
          <p:cNvSpPr>
            <a:spLocks noGrp="1"/>
          </p:cNvSpPr>
          <p:nvPr/>
        </p:nvSpPr>
        <p:spPr>
          <a:xfrm>
            <a:off x="1047750" y="20764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96700F-CE17-439D-8A95-5D3D95944E73}"/>
              </a:ext>
            </a:extLst>
          </p:cNvPr>
          <p:cNvSpPr>
            <a:spLocks noGrp="1"/>
          </p:cNvSpPr>
          <p:nvPr/>
        </p:nvSpPr>
        <p:spPr>
          <a:xfrm>
            <a:off x="1276350" y="2000250"/>
            <a:ext cx="8724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Problem statement and analytical questions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2469E4-ED5B-46DA-9AF6-42F9C6D1EF9A}"/>
              </a:ext>
            </a:extLst>
          </p:cNvPr>
          <p:cNvSpPr>
            <a:spLocks noGrp="1"/>
          </p:cNvSpPr>
          <p:nvPr/>
        </p:nvSpPr>
        <p:spPr>
          <a:xfrm>
            <a:off x="1047750" y="27241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883210-195A-4D2D-807A-4BD9072CCCC2}"/>
              </a:ext>
            </a:extLst>
          </p:cNvPr>
          <p:cNvSpPr>
            <a:spLocks noGrp="1"/>
          </p:cNvSpPr>
          <p:nvPr/>
        </p:nvSpPr>
        <p:spPr>
          <a:xfrm>
            <a:off x="1276350" y="2647950"/>
            <a:ext cx="8724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API data extraction and missing-value assessment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086C55-34A2-4ED4-9378-03C2646D54D5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28E9C4-D8E3-4B24-B619-5B0E4284E142}"/>
              </a:ext>
            </a:extLst>
          </p:cNvPr>
          <p:cNvSpPr>
            <a:spLocks noGrp="1"/>
          </p:cNvSpPr>
          <p:nvPr/>
        </p:nvSpPr>
        <p:spPr>
          <a:xfrm>
            <a:off x="1276350" y="3295650"/>
            <a:ext cx="8724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Temperature trend and seasonal pattern analysis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3222ED-1D74-4646-873D-1A09B6A46CF3}"/>
              </a:ext>
            </a:extLst>
          </p:cNvPr>
          <p:cNvSpPr>
            <a:spLocks noGrp="1"/>
          </p:cNvSpPr>
          <p:nvPr/>
        </p:nvSpPr>
        <p:spPr>
          <a:xfrm>
            <a:off x="1047750" y="40195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E0CC06-FBBD-44A8-948C-F2B24ADA2538}"/>
              </a:ext>
            </a:extLst>
          </p:cNvPr>
          <p:cNvSpPr>
            <a:spLocks noGrp="1"/>
          </p:cNvSpPr>
          <p:nvPr/>
        </p:nvSpPr>
        <p:spPr>
          <a:xfrm>
            <a:off x="1276350" y="3943350"/>
            <a:ext cx="8724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Precipitation and extreme-weather day analysis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8AE136-CB15-49DE-B41A-764F62192C83}"/>
              </a:ext>
            </a:extLst>
          </p:cNvPr>
          <p:cNvSpPr>
            <a:spLocks noGrp="1"/>
          </p:cNvSpPr>
          <p:nvPr/>
        </p:nvSpPr>
        <p:spPr>
          <a:xfrm>
            <a:off x="1047750" y="46672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CDF2AA-B080-4579-9A2E-854A061360FF}"/>
              </a:ext>
            </a:extLst>
          </p:cNvPr>
          <p:cNvSpPr>
            <a:spLocks noGrp="1"/>
          </p:cNvSpPr>
          <p:nvPr/>
        </p:nvSpPr>
        <p:spPr>
          <a:xfrm>
            <a:off x="1276350" y="4591050"/>
            <a:ext cx="8724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Correlation view and final recommendations for the project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1AA031-2CFC-41CF-BB28-C2702FDF0C00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5277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3E192C0-9102-48D7-97A8-742E29DE79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9E782-2827-45E4-987A-45383BDB1820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76200" cy="22860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26D4-1300-417C-A224-6ABF68F959D5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F4EACF-70E0-4DE1-9349-62D8838AC7AB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0287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Can API weather data explain Berlin's seasonal and extreme-weather patterns?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2514D-7B8B-48E2-98FB-9D5FD381E196}"/>
              </a:ext>
            </a:extLst>
          </p:cNvPr>
          <p:cNvSpPr>
            <a:spLocks noGrp="1"/>
          </p:cNvSpPr>
          <p:nvPr/>
        </p:nvSpPr>
        <p:spPr>
          <a:xfrm>
            <a:off x="476250" y="14668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project demonstrates API handling, data cleaning, time-series feature engineering, visualization, and concise reporting.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2CCF2-AB22-4221-ACB7-78F9D0C0534C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2776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79DFFB-9236-41CA-97D7-F35564B0F214}"/>
              </a:ext>
            </a:extLst>
          </p:cNvPr>
          <p:cNvSpPr>
            <a:spLocks noGrp="1"/>
          </p:cNvSpPr>
          <p:nvPr/>
        </p:nvSpPr>
        <p:spPr>
          <a:xfrm>
            <a:off x="476250" y="64198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Bright Sky API / Deutscher Wetterdienst (DWD) | Berlin | 2020-2025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BB680F-C4BF-47B7-9E5D-27E7DB576FE8}"/>
              </a:ext>
            </a:extLst>
          </p:cNvPr>
          <p:cNvSpPr>
            <a:spLocks noGrp="1"/>
          </p:cNvSpPr>
          <p:nvPr/>
        </p:nvSpPr>
        <p:spPr>
          <a:xfrm>
            <a:off x="819150" y="1952625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Questions answered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98FDDD-42D9-46A5-AAB0-EB5B386948B1}"/>
              </a:ext>
            </a:extLst>
          </p:cNvPr>
          <p:cNvSpPr>
            <a:spLocks noGrp="1"/>
          </p:cNvSpPr>
          <p:nvPr/>
        </p:nvSpPr>
        <p:spPr>
          <a:xfrm>
            <a:off x="876300" y="2600325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FD4CF6-4D81-446D-B6E2-98ECC9AFC4C2}"/>
              </a:ext>
            </a:extLst>
          </p:cNvPr>
          <p:cNvSpPr>
            <a:spLocks noGrp="1"/>
          </p:cNvSpPr>
          <p:nvPr/>
        </p:nvSpPr>
        <p:spPr>
          <a:xfrm>
            <a:off x="1104900" y="2524125"/>
            <a:ext cx="9391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Which weather variables have data-quality issues?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AE79CB-E40B-4FB7-8A62-3868CE4E73D7}"/>
              </a:ext>
            </a:extLst>
          </p:cNvPr>
          <p:cNvSpPr>
            <a:spLocks noGrp="1"/>
          </p:cNvSpPr>
          <p:nvPr/>
        </p:nvSpPr>
        <p:spPr>
          <a:xfrm>
            <a:off x="876300" y="3133725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F4A6FC-B690-4A72-BEBF-452300B3D1FD}"/>
              </a:ext>
            </a:extLst>
          </p:cNvPr>
          <p:cNvSpPr>
            <a:spLocks noGrp="1"/>
          </p:cNvSpPr>
          <p:nvPr/>
        </p:nvSpPr>
        <p:spPr>
          <a:xfrm>
            <a:off x="1104900" y="3057525"/>
            <a:ext cx="9391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does Berlin temperature evolve over time?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A27E7A-D426-4F5E-B02E-C1B88984F2C6}"/>
              </a:ext>
            </a:extLst>
          </p:cNvPr>
          <p:cNvSpPr>
            <a:spLocks noGrp="1"/>
          </p:cNvSpPr>
          <p:nvPr/>
        </p:nvSpPr>
        <p:spPr>
          <a:xfrm>
            <a:off x="876300" y="3667125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42CFD-F946-4D17-A30F-33EF94966DBF}"/>
              </a:ext>
            </a:extLst>
          </p:cNvPr>
          <p:cNvSpPr>
            <a:spLocks noGrp="1"/>
          </p:cNvSpPr>
          <p:nvPr/>
        </p:nvSpPr>
        <p:spPr>
          <a:xfrm>
            <a:off x="1104900" y="3590925"/>
            <a:ext cx="9391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are the strongest monthly and seasonal patterns?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55AB64-DBF8-478F-83CD-9A95144F88BE}"/>
              </a:ext>
            </a:extLst>
          </p:cNvPr>
          <p:cNvSpPr>
            <a:spLocks noGrp="1"/>
          </p:cNvSpPr>
          <p:nvPr/>
        </p:nvSpPr>
        <p:spPr>
          <a:xfrm>
            <a:off x="876300" y="4200525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BBCE4C-0D8B-4F81-A02F-52029A1F943F}"/>
              </a:ext>
            </a:extLst>
          </p:cNvPr>
          <p:cNvSpPr>
            <a:spLocks noGrp="1"/>
          </p:cNvSpPr>
          <p:nvPr/>
        </p:nvSpPr>
        <p:spPr>
          <a:xfrm>
            <a:off x="1104900" y="4124325"/>
            <a:ext cx="9391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do rainfall and extreme-weather days vary by year?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62B2F1-0341-4D07-B50F-4B149073E8E1}"/>
              </a:ext>
            </a:extLst>
          </p:cNvPr>
          <p:cNvSpPr>
            <a:spLocks noGrp="1"/>
          </p:cNvSpPr>
          <p:nvPr/>
        </p:nvSpPr>
        <p:spPr>
          <a:xfrm>
            <a:off x="876300" y="4733925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3A0CA1-1E32-477A-A29D-FF514F139B35}"/>
              </a:ext>
            </a:extLst>
          </p:cNvPr>
          <p:cNvSpPr>
            <a:spLocks noGrp="1"/>
          </p:cNvSpPr>
          <p:nvPr/>
        </p:nvSpPr>
        <p:spPr>
          <a:xfrm>
            <a:off x="1104900" y="4657725"/>
            <a:ext cx="9391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Which variables move together or against each other?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2CCD5D-AAF7-4143-954D-C518C9444F2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60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9570277-AEA6-4208-BBAA-616F12CE3E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1A0231-9193-43D1-AFFF-60C31452EFFA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76200" cy="22860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183BBF-95A9-4EFA-A7CF-B6D128B6CAF0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2F38D2-EA8F-4C1A-AE57-28A7BA543100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0287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Missingness is concentrated in a small number of API fields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13FC23-2A7A-4798-95B9-28AA6E07262A}"/>
              </a:ext>
            </a:extLst>
          </p:cNvPr>
          <p:cNvSpPr>
            <a:spLocks noGrp="1"/>
          </p:cNvSpPr>
          <p:nvPr/>
        </p:nvSpPr>
        <p:spPr>
          <a:xfrm>
            <a:off x="476250" y="14668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This check separates reliable observation variables from fields that are unavailable or only partially populated.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9E19EC-FA6A-47F7-92A2-552DC62BBDD7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2776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51099-4B6D-4CBC-966E-FBD4BD54D597}"/>
              </a:ext>
            </a:extLst>
          </p:cNvPr>
          <p:cNvSpPr>
            <a:spLocks noGrp="1"/>
          </p:cNvSpPr>
          <p:nvPr/>
        </p:nvSpPr>
        <p:spPr>
          <a:xfrm>
            <a:off x="476250" y="64198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Bright Sky API / Deutscher Wetterdienst (DWD) | Berlin | 2020-2025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" y="1713601"/>
            <a:ext cx="7334250" cy="390704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6BDC63C-4C36-40C5-91D9-164F1DC4F8F1}"/>
              </a:ext>
            </a:extLst>
          </p:cNvPr>
          <p:cNvSpPr>
            <a:spLocks noGrp="1"/>
          </p:cNvSpPr>
          <p:nvPr/>
        </p:nvSpPr>
        <p:spPr>
          <a:xfrm>
            <a:off x="8334375" y="209550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AA9CD2-E5C6-4A35-8587-22190C4D41E8}"/>
              </a:ext>
            </a:extLst>
          </p:cNvPr>
          <p:cNvSpPr>
            <a:spLocks noGrp="1"/>
          </p:cNvSpPr>
          <p:nvPr/>
        </p:nvSpPr>
        <p:spPr>
          <a:xfrm>
            <a:off x="8562975" y="201930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Core observation fields such as timestamp, temperature, precipitation, wind, pressure, humidity, and cloud cover are mostly complete.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4FF98F-A3F4-420C-BF27-BA53BB65A1B6}"/>
              </a:ext>
            </a:extLst>
          </p:cNvPr>
          <p:cNvSpPr>
            <a:spLocks noGrp="1"/>
          </p:cNvSpPr>
          <p:nvPr/>
        </p:nvSpPr>
        <p:spPr>
          <a:xfrm>
            <a:off x="8334375" y="316230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6801C2-B000-418F-8538-A2278CAE781D}"/>
              </a:ext>
            </a:extLst>
          </p:cNvPr>
          <p:cNvSpPr>
            <a:spLocks noGrp="1"/>
          </p:cNvSpPr>
          <p:nvPr/>
        </p:nvSpPr>
        <p:spPr>
          <a:xfrm>
            <a:off x="8562975" y="308610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Precipitation probability fields are unavailable for the historical observation period and should be excluded from core analysis.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350B81-22C7-400F-994C-8376774CB978}"/>
              </a:ext>
            </a:extLst>
          </p:cNvPr>
          <p:cNvSpPr>
            <a:spLocks noGrp="1"/>
          </p:cNvSpPr>
          <p:nvPr/>
        </p:nvSpPr>
        <p:spPr>
          <a:xfrm>
            <a:off x="8334375" y="422910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2B344B-EE8A-499C-B48F-F707860B255E}"/>
              </a:ext>
            </a:extLst>
          </p:cNvPr>
          <p:cNvSpPr>
            <a:spLocks noGrp="1"/>
          </p:cNvSpPr>
          <p:nvPr/>
        </p:nvSpPr>
        <p:spPr>
          <a:xfrm>
            <a:off x="8562975" y="415290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Sunshine has partial missingness, so it needs a clear cleaning decision before being used in conclusions.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DE6E07-135F-40C8-93A7-ED8F604A7CF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597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92CC066-1F05-449D-9176-5FB11AE0BC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A613E-149F-49C6-B92E-620F9EA6A4FC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76200" cy="22860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1A40AF-7F48-4676-8F7B-ECC4FD8279FA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CDB1F9-E3A2-49BF-A974-57EC66EB2808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0287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Berlin temperatures show a stable annual cycle across the period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F41C38-8753-454B-B963-1F236557B249}"/>
              </a:ext>
            </a:extLst>
          </p:cNvPr>
          <p:cNvSpPr>
            <a:spLocks noGrp="1"/>
          </p:cNvSpPr>
          <p:nvPr/>
        </p:nvSpPr>
        <p:spPr>
          <a:xfrm>
            <a:off x="476250" y="14668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30-day rolling average makes the repeated winter lows and summer peaks easier to interpret.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88CF4-9CE9-4072-94B9-1ACA7C391D59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2776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6B8723-295E-48EF-85A0-9469E27C98F1}"/>
              </a:ext>
            </a:extLst>
          </p:cNvPr>
          <p:cNvSpPr>
            <a:spLocks noGrp="1"/>
          </p:cNvSpPr>
          <p:nvPr/>
        </p:nvSpPr>
        <p:spPr>
          <a:xfrm>
            <a:off x="476250" y="64198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Bright Sky API / Deutscher Wetterdienst (DWD) | Berlin | 2020-2025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96122"/>
            <a:ext cx="7239000" cy="385630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A5C10AC-6841-4098-96FA-BEF180D5E7F0}"/>
              </a:ext>
            </a:extLst>
          </p:cNvPr>
          <p:cNvSpPr>
            <a:spLocks noGrp="1"/>
          </p:cNvSpPr>
          <p:nvPr/>
        </p:nvSpPr>
        <p:spPr>
          <a:xfrm>
            <a:off x="8334375" y="21526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4FD697-D3D0-4D7D-A8A8-E63CAFE5EC5B}"/>
              </a:ext>
            </a:extLst>
          </p:cNvPr>
          <p:cNvSpPr>
            <a:spLocks noGrp="1"/>
          </p:cNvSpPr>
          <p:nvPr/>
        </p:nvSpPr>
        <p:spPr>
          <a:xfrm>
            <a:off x="8562975" y="20764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Daily values are noisy, but the smoothed line reveals a clear yearly rhythm.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18A929-FAF0-417A-A952-BAC226C63DBC}"/>
              </a:ext>
            </a:extLst>
          </p:cNvPr>
          <p:cNvSpPr>
            <a:spLocks noGrp="1"/>
          </p:cNvSpPr>
          <p:nvPr/>
        </p:nvSpPr>
        <p:spPr>
          <a:xfrm>
            <a:off x="8334375" y="32194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C7DBAD-A190-448E-920A-B3038003BE5D}"/>
              </a:ext>
            </a:extLst>
          </p:cNvPr>
          <p:cNvSpPr>
            <a:spLocks noGrp="1"/>
          </p:cNvSpPr>
          <p:nvPr/>
        </p:nvSpPr>
        <p:spPr>
          <a:xfrm>
            <a:off x="8562975" y="31432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Summer peaks regularly approach or exceed 20°C on the rolling average.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610E1B8-A42B-4999-8E84-D5A9EC5D41F3}"/>
              </a:ext>
            </a:extLst>
          </p:cNvPr>
          <p:cNvSpPr>
            <a:spLocks noGrp="1"/>
          </p:cNvSpPr>
          <p:nvPr/>
        </p:nvSpPr>
        <p:spPr>
          <a:xfrm>
            <a:off x="8334375" y="42862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12A455-4ED1-47EA-A9C0-2278844097E0}"/>
              </a:ext>
            </a:extLst>
          </p:cNvPr>
          <p:cNvSpPr>
            <a:spLocks noGrp="1"/>
          </p:cNvSpPr>
          <p:nvPr/>
        </p:nvSpPr>
        <p:spPr>
          <a:xfrm>
            <a:off x="8562975" y="42100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Winter troughs remain near low single digits, with occasional below-zero daily averages.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958987-9BAF-4FA8-98BF-44BD7E8CBAC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77009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2F07687-4881-4C85-8D07-06C7B394E5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CF5AF1-0231-4913-ADB6-1BD00EA20A4F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76200" cy="22860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320ECE-B486-43B6-85F9-04A9D65F4F4E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SEASONALITY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A68D8F-10DB-4963-9488-83E68B173FEB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0287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Monthly distributions confirm Berlin's strongest temperature seasonality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B44836-D890-4ED4-8E33-1E1E9CE687AB}"/>
              </a:ext>
            </a:extLst>
          </p:cNvPr>
          <p:cNvSpPr>
            <a:spLocks noGrp="1"/>
          </p:cNvSpPr>
          <p:nvPr/>
        </p:nvSpPr>
        <p:spPr>
          <a:xfrm>
            <a:off x="476250" y="14668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Boxplots show both the median monthly pattern and the spread of daily temperature values.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1F2DC7-D65D-455F-B902-1A8A7B75EB47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2776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C26D31-3885-4153-88A6-B16C0BEC1285}"/>
              </a:ext>
            </a:extLst>
          </p:cNvPr>
          <p:cNvSpPr>
            <a:spLocks noGrp="1"/>
          </p:cNvSpPr>
          <p:nvPr/>
        </p:nvSpPr>
        <p:spPr>
          <a:xfrm>
            <a:off x="476250" y="64198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Bright Sky API / Deutscher Wetterdienst (DWD) | Berlin | 2020-2025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96122"/>
            <a:ext cx="7239000" cy="385630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EF6E55A-3185-4AFA-A6EB-4ADD39226AA6}"/>
              </a:ext>
            </a:extLst>
          </p:cNvPr>
          <p:cNvSpPr>
            <a:spLocks noGrp="1"/>
          </p:cNvSpPr>
          <p:nvPr/>
        </p:nvSpPr>
        <p:spPr>
          <a:xfrm>
            <a:off x="8334375" y="21526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9D8BA5-A366-42A0-8BE1-62D61A6CA4F7}"/>
              </a:ext>
            </a:extLst>
          </p:cNvPr>
          <p:cNvSpPr>
            <a:spLocks noGrp="1"/>
          </p:cNvSpPr>
          <p:nvPr/>
        </p:nvSpPr>
        <p:spPr>
          <a:xfrm>
            <a:off x="8562975" y="20764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Temperatures rise steadily from March through August and decline from September onward.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4B4FE-ED1F-4B37-82AA-7ABF06A31E18}"/>
              </a:ext>
            </a:extLst>
          </p:cNvPr>
          <p:cNvSpPr>
            <a:spLocks noGrp="1"/>
          </p:cNvSpPr>
          <p:nvPr/>
        </p:nvSpPr>
        <p:spPr>
          <a:xfrm>
            <a:off x="8334375" y="32194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08BF6-3F6B-45D8-88D2-9366F9375829}"/>
              </a:ext>
            </a:extLst>
          </p:cNvPr>
          <p:cNvSpPr>
            <a:spLocks noGrp="1"/>
          </p:cNvSpPr>
          <p:nvPr/>
        </p:nvSpPr>
        <p:spPr>
          <a:xfrm>
            <a:off x="8562975" y="31432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June to August have the highest medians and widest warm-weather ranges.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3BC5660-59CB-49CE-BDE6-3F56A6A0157F}"/>
              </a:ext>
            </a:extLst>
          </p:cNvPr>
          <p:cNvSpPr>
            <a:spLocks noGrp="1"/>
          </p:cNvSpPr>
          <p:nvPr/>
        </p:nvSpPr>
        <p:spPr>
          <a:xfrm>
            <a:off x="8334375" y="42862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5D619B-8788-4119-9BC2-740ACB5034F9}"/>
              </a:ext>
            </a:extLst>
          </p:cNvPr>
          <p:cNvSpPr>
            <a:spLocks noGrp="1"/>
          </p:cNvSpPr>
          <p:nvPr/>
        </p:nvSpPr>
        <p:spPr>
          <a:xfrm>
            <a:off x="8562975" y="42100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January, February, and December contain the lowest values and most cold-weather outliers.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5F155E-232D-4C8F-BA1A-911DD5A31C5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0863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0014EAB-6E31-4DCF-98FA-FA7E673A12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DA2520-D2FD-4037-8B4F-64A206ADAC6B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76200" cy="22860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D42856-70E6-4B1B-AED7-21B87233A24F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RAINFALL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7CCCB0-887E-44E0-872C-4154C97A5051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0287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July stands out as the wettest month on average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C9F765-D56A-4A3B-A1FD-0654E783D7D2}"/>
              </a:ext>
            </a:extLst>
          </p:cNvPr>
          <p:cNvSpPr>
            <a:spLocks noGrp="1"/>
          </p:cNvSpPr>
          <p:nvPr/>
        </p:nvSpPr>
        <p:spPr>
          <a:xfrm>
            <a:off x="476250" y="14668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Monthly precipitation is less smooth than temperature, which suggests rainfall is driven by irregular high-intensity events.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219CB5-5E55-4BEA-86A7-068289C510A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2776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F8C1D7-2B5E-454F-B73C-BB09913C4088}"/>
              </a:ext>
            </a:extLst>
          </p:cNvPr>
          <p:cNvSpPr>
            <a:spLocks noGrp="1"/>
          </p:cNvSpPr>
          <p:nvPr/>
        </p:nvSpPr>
        <p:spPr>
          <a:xfrm>
            <a:off x="476250" y="64198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Bright Sky API / Deutscher Wetterdienst (DWD) | Berlin | 2020-2025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96122"/>
            <a:ext cx="7239000" cy="385630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BEBADB7-6F25-46A7-8CED-6079671FBBA3}"/>
              </a:ext>
            </a:extLst>
          </p:cNvPr>
          <p:cNvSpPr>
            <a:spLocks noGrp="1"/>
          </p:cNvSpPr>
          <p:nvPr/>
        </p:nvSpPr>
        <p:spPr>
          <a:xfrm>
            <a:off x="8334375" y="21526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CF56E8-C343-42D6-95D7-E65F82A5BC9C}"/>
              </a:ext>
            </a:extLst>
          </p:cNvPr>
          <p:cNvSpPr>
            <a:spLocks noGrp="1"/>
          </p:cNvSpPr>
          <p:nvPr/>
        </p:nvSpPr>
        <p:spPr>
          <a:xfrm>
            <a:off x="8562975" y="20764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Average rainfall is highest in July, with a visible gap versus most other months.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083040-8934-47BB-AD66-9C8E97695659}"/>
              </a:ext>
            </a:extLst>
          </p:cNvPr>
          <p:cNvSpPr>
            <a:spLocks noGrp="1"/>
          </p:cNvSpPr>
          <p:nvPr/>
        </p:nvSpPr>
        <p:spPr>
          <a:xfrm>
            <a:off x="8334375" y="32194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B3224-BAAB-40F2-AD85-7F106C1879B3}"/>
              </a:ext>
            </a:extLst>
          </p:cNvPr>
          <p:cNvSpPr>
            <a:spLocks noGrp="1"/>
          </p:cNvSpPr>
          <p:nvPr/>
        </p:nvSpPr>
        <p:spPr>
          <a:xfrm>
            <a:off x="8562975" y="31432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March and April are comparatively dry in this period.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88ED951-DE89-4304-B894-98CA4D30233F}"/>
              </a:ext>
            </a:extLst>
          </p:cNvPr>
          <p:cNvSpPr>
            <a:spLocks noGrp="1"/>
          </p:cNvSpPr>
          <p:nvPr/>
        </p:nvSpPr>
        <p:spPr>
          <a:xfrm>
            <a:off x="8334375" y="42862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15245-A1D7-4F03-A7DF-02BD2AC72734}"/>
              </a:ext>
            </a:extLst>
          </p:cNvPr>
          <p:cNvSpPr>
            <a:spLocks noGrp="1"/>
          </p:cNvSpPr>
          <p:nvPr/>
        </p:nvSpPr>
        <p:spPr>
          <a:xfrm>
            <a:off x="8562975" y="42100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Precipitation seasonality is weaker and more event-driven than temperature seasonality.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3D5EC6-D9B2-431C-9886-82F8F9DCC346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6611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65757B1-41D8-4F59-B37D-D5A6D49D7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DF2779-789D-446E-8842-FC0ACDC64547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76200" cy="22860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D7010C-FBBB-4F20-A14D-AB19F965596D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EXTREMES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2E7B3-9841-4D15-90AA-D54B41B9AE21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0287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Frost and heavy-rain days vary materially year to year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A152B-60A7-490C-BAE5-CFB074F0A72A}"/>
              </a:ext>
            </a:extLst>
          </p:cNvPr>
          <p:cNvSpPr>
            <a:spLocks noGrp="1"/>
          </p:cNvSpPr>
          <p:nvPr/>
        </p:nvSpPr>
        <p:spPr>
          <a:xfrm>
            <a:off x="476250" y="14668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Extreme-day indicators convert hourly weather observations into simple, explainable features.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9ADCA5-8B6C-4922-90E1-B1801D1C765B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2776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23A663-CE17-483E-9CEB-76B55F7F1975}"/>
              </a:ext>
            </a:extLst>
          </p:cNvPr>
          <p:cNvSpPr>
            <a:spLocks noGrp="1"/>
          </p:cNvSpPr>
          <p:nvPr/>
        </p:nvSpPr>
        <p:spPr>
          <a:xfrm>
            <a:off x="476250" y="64198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Bright Sky API / Deutscher Wetterdienst (DWD) | Berlin | 2020-2025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96122"/>
            <a:ext cx="7239000" cy="385630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489EDC5C-1F24-481E-BA9A-DE6ADAD6E920}"/>
              </a:ext>
            </a:extLst>
          </p:cNvPr>
          <p:cNvSpPr>
            <a:spLocks noGrp="1"/>
          </p:cNvSpPr>
          <p:nvPr/>
        </p:nvSpPr>
        <p:spPr>
          <a:xfrm>
            <a:off x="8334375" y="2028825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BE5E19-6A75-4ED6-AED0-1648713929E7}"/>
              </a:ext>
            </a:extLst>
          </p:cNvPr>
          <p:cNvSpPr>
            <a:spLocks noGrp="1"/>
          </p:cNvSpPr>
          <p:nvPr/>
        </p:nvSpPr>
        <p:spPr>
          <a:xfrm>
            <a:off x="8562975" y="1952625"/>
            <a:ext cx="281940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Frost days are highest in 2021 and 2025 in this analysis window.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ED9BEDB-06B9-4DE0-9998-E1793C82AFDC}"/>
              </a:ext>
            </a:extLst>
          </p:cNvPr>
          <p:cNvSpPr>
            <a:spLocks noGrp="1"/>
          </p:cNvSpPr>
          <p:nvPr/>
        </p:nvSpPr>
        <p:spPr>
          <a:xfrm>
            <a:off x="8334375" y="3152775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C1C4BC-D6CD-4037-BC45-DC10D028245B}"/>
              </a:ext>
            </a:extLst>
          </p:cNvPr>
          <p:cNvSpPr>
            <a:spLocks noGrp="1"/>
          </p:cNvSpPr>
          <p:nvPr/>
        </p:nvSpPr>
        <p:spPr>
          <a:xfrm>
            <a:off x="8562975" y="3076575"/>
            <a:ext cx="281940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Heavy-rain days peak in 2023, making it the strongest rainfall-risk year in this view.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BA8D2C-8A5F-491B-906E-34EB5F5D4878}"/>
              </a:ext>
            </a:extLst>
          </p:cNvPr>
          <p:cNvSpPr>
            <a:spLocks noGrp="1"/>
          </p:cNvSpPr>
          <p:nvPr/>
        </p:nvSpPr>
        <p:spPr>
          <a:xfrm>
            <a:off x="8334375" y="4276725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85F4BD-F9F2-4A56-90A0-913682F9FB06}"/>
              </a:ext>
            </a:extLst>
          </p:cNvPr>
          <p:cNvSpPr>
            <a:spLocks noGrp="1"/>
          </p:cNvSpPr>
          <p:nvPr/>
        </p:nvSpPr>
        <p:spPr>
          <a:xfrm>
            <a:off x="8562975" y="4200525"/>
            <a:ext cx="281940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Heat days are rare under the daily-average &gt;= 30°C definition, so the threshold should be explained clearly.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2547EB-2ABF-48BF-8945-E54D71D29131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6005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67CE4FE-D121-4B07-9921-20CC0CD20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115BF1-C87E-4462-ACD5-3004D23B69D3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76200" cy="22860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E3B489-D5C6-4FB9-B602-E569F3E849A1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RELATIONSHIPS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D1BD3E-1573-4FDF-B635-7D3B1B33B7A8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0287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Sunshine, humidity, and cloud cover explain much of the weather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346BE-D35D-4468-94F5-0DC3BD28F905}"/>
              </a:ext>
            </a:extLst>
          </p:cNvPr>
          <p:cNvSpPr>
            <a:spLocks noGrp="1"/>
          </p:cNvSpPr>
          <p:nvPr/>
        </p:nvSpPr>
        <p:spPr>
          <a:xfrm>
            <a:off x="476250" y="1466850"/>
            <a:ext cx="1028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correlation matrix provides a compact check of expected meteorological relationships.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CC635-3EDB-47C8-B671-187F5F47240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2776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5FE17C-5FD4-4238-8282-D7F5B384B702}"/>
              </a:ext>
            </a:extLst>
          </p:cNvPr>
          <p:cNvSpPr>
            <a:spLocks noGrp="1"/>
          </p:cNvSpPr>
          <p:nvPr/>
        </p:nvSpPr>
        <p:spPr>
          <a:xfrm>
            <a:off x="476250" y="64198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Bright Sky API / Deutscher Wetterdienst (DWD) | Berlin | 2020-2025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1289" y="1676400"/>
            <a:ext cx="7228022" cy="409575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D56622A-3FAC-45BD-9AE6-3E60780A3207}"/>
              </a:ext>
            </a:extLst>
          </p:cNvPr>
          <p:cNvSpPr>
            <a:spLocks noGrp="1"/>
          </p:cNvSpPr>
          <p:nvPr/>
        </p:nvSpPr>
        <p:spPr>
          <a:xfrm>
            <a:off x="8334375" y="21526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2556E8-233D-494C-A192-C2CEF8E228FA}"/>
              </a:ext>
            </a:extLst>
          </p:cNvPr>
          <p:cNvSpPr>
            <a:spLocks noGrp="1"/>
          </p:cNvSpPr>
          <p:nvPr/>
        </p:nvSpPr>
        <p:spPr>
          <a:xfrm>
            <a:off x="8562975" y="20764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Temperature is positively related to sunshine and negatively related to relative humidity.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D6A607-4ECE-49D5-A2AA-4AFEDCDF0214}"/>
              </a:ext>
            </a:extLst>
          </p:cNvPr>
          <p:cNvSpPr>
            <a:spLocks noGrp="1"/>
          </p:cNvSpPr>
          <p:nvPr/>
        </p:nvSpPr>
        <p:spPr>
          <a:xfrm>
            <a:off x="8334375" y="32194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CB542-2978-49D1-97AB-921572DC82CF}"/>
              </a:ext>
            </a:extLst>
          </p:cNvPr>
          <p:cNvSpPr>
            <a:spLocks noGrp="1"/>
          </p:cNvSpPr>
          <p:nvPr/>
        </p:nvSpPr>
        <p:spPr>
          <a:xfrm>
            <a:off x="8562975" y="31432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Sunshine has strong negative relationships with humidity and cloud cover.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F2889C-E14F-4B9D-9CD3-33F655BDD7F3}"/>
              </a:ext>
            </a:extLst>
          </p:cNvPr>
          <p:cNvSpPr>
            <a:spLocks noGrp="1"/>
          </p:cNvSpPr>
          <p:nvPr/>
        </p:nvSpPr>
        <p:spPr>
          <a:xfrm>
            <a:off x="8334375" y="428625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E2E9E0-A4BC-420B-9CF2-0457A985094B}"/>
              </a:ext>
            </a:extLst>
          </p:cNvPr>
          <p:cNvSpPr>
            <a:spLocks noGrp="1"/>
          </p:cNvSpPr>
          <p:nvPr/>
        </p:nvSpPr>
        <p:spPr>
          <a:xfrm>
            <a:off x="8562975" y="4210050"/>
            <a:ext cx="28194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Precipitation has weaker linear relationships, consistent with more irregular event behavior.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0339D1-0095-4823-B471-C53D2CEDF0F6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54951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D27394D-41E5-4F01-AB1B-E271BBFD18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7582C7-6F44-41C8-9514-6E57B8772192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76200" cy="228600"/>
          </a:xfrm>
          <a:prstGeom prst="rect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263B4C-C277-4D5A-8F9D-7D40500C3157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3CAAFF-38A1-4469-AA16-A92D945DB1C2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10287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The project demonstrates a complete EDA workflow, not only plotting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DFCC43-238E-4130-BB40-A79308C8735E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2776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314ADD-601B-49F3-90EB-AECCBD190014}"/>
              </a:ext>
            </a:extLst>
          </p:cNvPr>
          <p:cNvSpPr>
            <a:spLocks noGrp="1"/>
          </p:cNvSpPr>
          <p:nvPr/>
        </p:nvSpPr>
        <p:spPr>
          <a:xfrm>
            <a:off x="476250" y="64198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Bright Sky API / Deutscher Wetterdienst (DWD) | Berlin | 2020-2025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8E5235-E1BB-4F0C-BF2A-5A4A340D522D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Key takeaways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2AC9A8-7BF7-497A-A77F-89AAC5E90F18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4A6E9-F4F2-437E-BD31-5431C92C8752}"/>
              </a:ext>
            </a:extLst>
          </p:cNvPr>
          <p:cNvSpPr>
            <a:spLocks noGrp="1"/>
          </p:cNvSpPr>
          <p:nvPr/>
        </p:nvSpPr>
        <p:spPr>
          <a:xfrm>
            <a:off x="1047750" y="2438400"/>
            <a:ext cx="9486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Berlin weather data is suitable for analysis after excluding unavailable probability fields and documenting sunshine missingness.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425D30-9222-43D3-A551-AE3510749A54}"/>
              </a:ext>
            </a:extLst>
          </p:cNvPr>
          <p:cNvSpPr>
            <a:spLocks noGrp="1"/>
          </p:cNvSpPr>
          <p:nvPr/>
        </p:nvSpPr>
        <p:spPr>
          <a:xfrm>
            <a:off x="819150" y="323850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91E366-C4D8-4211-B9F8-E19369C4CE1D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486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Temperature has a clear annual pattern across 2020-2025, with stable winter troughs and summer peaks.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286A7C-A874-4A02-8392-2FA7DCD6DA77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882C53-4303-44FB-932F-2A6349EDB47B}"/>
              </a:ext>
            </a:extLst>
          </p:cNvPr>
          <p:cNvSpPr>
            <a:spLocks noGrp="1"/>
          </p:cNvSpPr>
          <p:nvPr/>
        </p:nvSpPr>
        <p:spPr>
          <a:xfrm>
            <a:off x="1047750" y="3886200"/>
            <a:ext cx="9486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Rainfall is more irregular than temperature and should be discussed as event-driven rather than smoothly seasonal.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6B5B97-F902-476C-9710-F73AE37DB7BE}"/>
              </a:ext>
            </a:extLst>
          </p:cNvPr>
          <p:cNvSpPr>
            <a:spLocks noGrp="1"/>
          </p:cNvSpPr>
          <p:nvPr/>
        </p:nvSpPr>
        <p:spPr>
          <a:xfrm>
            <a:off x="819150" y="4686300"/>
            <a:ext cx="76200" cy="76200"/>
          </a:xfrm>
          <a:prstGeom prst="ellipse">
            <a:avLst/>
          </a:prstGeom>
          <a:solidFill>
            <a:srgbClr val="1F4E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A3FD32-7438-45AF-9320-68A28DCD4EC7}"/>
              </a:ext>
            </a:extLst>
          </p:cNvPr>
          <p:cNvSpPr>
            <a:spLocks noGrp="1"/>
          </p:cNvSpPr>
          <p:nvPr/>
        </p:nvSpPr>
        <p:spPr>
          <a:xfrm>
            <a:off x="1047750" y="4610100"/>
            <a:ext cx="9486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notebook showcases API extraction, missing-value handling, time features, aggregation, trend analysis, seasonality, extreme-day flags, and reporting.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51A92C-49A5-4FD1-9351-F52C455430B9}"/>
              </a:ext>
            </a:extLst>
          </p:cNvPr>
          <p:cNvSpPr>
            <a:spLocks noGrp="1"/>
          </p:cNvSpPr>
          <p:nvPr/>
        </p:nvSpPr>
        <p:spPr>
          <a:xfrm>
            <a:off x="666750" y="5600700"/>
            <a:ext cx="102870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5E2331-ADD6-4F65-AEF2-93942D2A2CF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159119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Microsoft Office PowerPoint</Application>
  <DocSecurity>0</DocSecurity>
  <PresentationFormat>Widescreen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Chandana</cp:lastModifiedBy>
  <cp:revision>1</cp:revision>
  <dcterms:created xsi:type="dcterms:W3CDTF">2026-05-27T13:45:25Z</dcterms:created>
  <dcterms:modified xsi:type="dcterms:W3CDTF">2026-05-27T14:42:20Z</dcterms:modified>
</cp:coreProperties>
</file>